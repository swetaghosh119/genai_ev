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2" r:id="rId4"/>
  </p:sldMasterIdLst>
  <p:notesMasterIdLst>
    <p:notesMasterId r:id="rId17"/>
  </p:notesMasterIdLst>
  <p:sldIdLst>
    <p:sldId id="256" r:id="rId5"/>
    <p:sldId id="2146847054" r:id="rId6"/>
    <p:sldId id="262" r:id="rId7"/>
    <p:sldId id="263" r:id="rId8"/>
    <p:sldId id="265" r:id="rId9"/>
    <p:sldId id="266" r:id="rId10"/>
    <p:sldId id="267" r:id="rId11"/>
    <p:sldId id="268" r:id="rId12"/>
    <p:sldId id="2146847055" r:id="rId13"/>
    <p:sldId id="269" r:id="rId14"/>
    <p:sldId id="2146847058" r:id="rId15"/>
    <p:sldId id="259"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2BA97"/>
    <a:srgbClr val="8E6C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7" d="100"/>
          <a:sy n="67" d="100"/>
        </p:scale>
        <p:origin x="83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256A78-79A6-408F-8148-4F87BB81602D}" type="datetimeFigureOut">
              <a:rPr lang="en-IN" smtClean="0"/>
              <a:t>28-01-2026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E254F1-4415-47BF-9E91-C5D4B9A33350}" type="slidenum">
              <a:rPr lang="en-IN" smtClean="0"/>
              <a:t>‹#›</a:t>
            </a:fld>
            <a:endParaRPr lang="en-IN"/>
          </a:p>
        </p:txBody>
      </p:sp>
    </p:spTree>
    <p:extLst>
      <p:ext uri="{BB962C8B-B14F-4D97-AF65-F5344CB8AC3E}">
        <p14:creationId xmlns:p14="http://schemas.microsoft.com/office/powerpoint/2010/main" val="5380084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1/28/2026</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490017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530296"/>
          </a:xfrm>
        </p:spPr>
        <p:txBody>
          <a:bodyPr/>
          <a:lstStyle/>
          <a:p>
            <a:r>
              <a:rPr lang="en-US"/>
              <a:t>Click to edit Master title style</a:t>
            </a:r>
          </a:p>
        </p:txBody>
      </p:sp>
      <p:sp>
        <p:nvSpPr>
          <p:cNvPr id="3" name="Content Placeholder 2"/>
          <p:cNvSpPr>
            <a:spLocks noGrp="1"/>
          </p:cNvSpPr>
          <p:nvPr>
            <p:ph idx="1"/>
          </p:nvPr>
        </p:nvSpPr>
        <p:spPr>
          <a:xfrm>
            <a:off x="581192" y="1302026"/>
            <a:ext cx="11029615" cy="46733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1/28/2026</a:t>
            </a:fld>
            <a:endParaRPr lang="en-US"/>
          </a:p>
        </p:txBody>
      </p:sp>
    </p:spTree>
    <p:extLst>
      <p:ext uri="{BB962C8B-B14F-4D97-AF65-F5344CB8AC3E}">
        <p14:creationId xmlns:p14="http://schemas.microsoft.com/office/powerpoint/2010/main" val="852443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1/28/2026</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66680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492855"/>
          </a:xfrm>
        </p:spPr>
        <p:txBody>
          <a:bodyPr/>
          <a:lstStyle/>
          <a:p>
            <a:r>
              <a:rPr lang="en-US"/>
              <a:t>Click to edit Master title style</a:t>
            </a:r>
          </a:p>
        </p:txBody>
      </p:sp>
      <p:sp>
        <p:nvSpPr>
          <p:cNvPr id="3" name="Content Placeholder 2"/>
          <p:cNvSpPr>
            <a:spLocks noGrp="1"/>
          </p:cNvSpPr>
          <p:nvPr>
            <p:ph sz="half" idx="1"/>
          </p:nvPr>
        </p:nvSpPr>
        <p:spPr>
          <a:xfrm>
            <a:off x="581193" y="1391479"/>
            <a:ext cx="5194767"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416039" y="1391479"/>
            <a:ext cx="5194769"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BFFD690-9426-415D-8B65-26881E07B2D4}" type="datetime1">
              <a:rPr lang="en-US" smtClean="0"/>
              <a:t>1/28/2026</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2483323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4C4989A-474C-40DE-95B9-011C28B71673}" type="datetime1">
              <a:rPr lang="en-US" smtClean="0"/>
              <a:t>1/28/2026</a:t>
            </a:fld>
            <a:endParaRPr lang="en-US"/>
          </a:p>
        </p:txBody>
      </p:sp>
      <p:sp>
        <p:nvSpPr>
          <p:cNvPr id="8" name="Footer Placeholder 7"/>
          <p:cNvSpPr>
            <a:spLocks noGrp="1"/>
          </p:cNvSpPr>
          <p:nvPr>
            <p:ph type="ftr" sz="quarter" idx="11"/>
          </p:nvPr>
        </p:nvSpPr>
        <p:spPr>
          <a:xfrm>
            <a:off x="581192" y="6423914"/>
            <a:ext cx="6917210" cy="365125"/>
          </a:xfrm>
          <a:prstGeom prst="rect">
            <a:avLst/>
          </a:prstGeom>
        </p:spPr>
        <p:txBody>
          <a:bodyPr/>
          <a:lstStyle/>
          <a:p>
            <a:endParaRPr lang="en-US"/>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748046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592246"/>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5DB4ED54-5B5E-4A04-93D3-5772E3CE3818}" type="datetime1">
              <a:rPr lang="en-US" smtClean="0"/>
              <a:t>1/28/2026</a:t>
            </a:fld>
            <a:endParaRPr lang="en-US"/>
          </a:p>
        </p:txBody>
      </p:sp>
      <p:sp>
        <p:nvSpPr>
          <p:cNvPr id="4" name="Footer Placeholder 3"/>
          <p:cNvSpPr>
            <a:spLocks noGrp="1"/>
          </p:cNvSpPr>
          <p:nvPr>
            <p:ph type="ftr" sz="quarter" idx="11"/>
          </p:nvPr>
        </p:nvSpPr>
        <p:spPr>
          <a:xfrm>
            <a:off x="581192" y="6423914"/>
            <a:ext cx="6917210"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2936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1/28/2026</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29494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a:lstStyle/>
          <a:p>
            <a:fld id="{D82884F1-FFEA-405F-9602-3DCA865EDA4E}" type="datetime1">
              <a:rPr lang="en-US" smtClean="0"/>
              <a:t>1/28/2026</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a:prstGeom prst="rect">
            <a:avLst/>
          </a:prstGeo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val="1261766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1/28/2026</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pPr algn="l"/>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573289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CED4963-E985-44C4-B8C4-FDD613B7C2F8}" type="datetime1">
              <a:rPr lang="en-US" smtClean="0"/>
              <a:t>1/28/2026</a:t>
            </a:fld>
            <a:endParaRPr lang="en-US"/>
          </a:p>
        </p:txBody>
      </p:sp>
      <p:sp>
        <p:nvSpPr>
          <p:cNvPr id="5" name="Footer Placeholder 4"/>
          <p:cNvSpPr>
            <a:spLocks noGrp="1"/>
          </p:cNvSpPr>
          <p:nvPr>
            <p:ph type="ftr" sz="quarter" idx="11"/>
          </p:nvPr>
        </p:nvSpPr>
        <p:spPr>
          <a:xfrm>
            <a:off x="581192" y="6423914"/>
            <a:ext cx="691721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283591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7">
            <a:extLst>
              <a:ext uri="{FF2B5EF4-FFF2-40B4-BE49-F238E27FC236}">
                <a16:creationId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1/28/2026</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388849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557146"/>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581192" y="1415198"/>
            <a:ext cx="11029616" cy="4572852"/>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ED291B17-9318-49DB-B28B-6E5994AE9581}" type="datetime1">
              <a:rPr lang="en-US" smtClean="0"/>
              <a:t>1/28/2026</a:t>
            </a:fld>
            <a:endParaRPr lang="en-US"/>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t>‹#›</a:t>
            </a:fld>
            <a:endParaRPr lang="en-US"/>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pic>
        <p:nvPicPr>
          <p:cNvPr id="8" name="Picture 7" descr="Logo&#10;&#10;Description automatically generated">
            <a:extLst>
              <a:ext uri="{FF2B5EF4-FFF2-40B4-BE49-F238E27FC236}">
                <a16:creationId xmlns:a16="http://schemas.microsoft.com/office/drawing/2014/main" id="{14A64E4D-8DED-7830-2955-1BE78C5B0655}"/>
              </a:ext>
            </a:extLst>
          </p:cNvPr>
          <p:cNvPicPr>
            <a:picLocks noChangeAspect="1"/>
          </p:cNvPicPr>
          <p:nvPr userDrawn="1"/>
        </p:nvPicPr>
        <p:blipFill>
          <a:blip r:embed="rId13"/>
          <a:stretch>
            <a:fillRect/>
          </a:stretch>
        </p:blipFill>
        <p:spPr>
          <a:xfrm>
            <a:off x="10485003" y="6437910"/>
            <a:ext cx="1125805" cy="365126"/>
          </a:xfrm>
          <a:prstGeom prst="rect">
            <a:avLst/>
          </a:prstGeom>
        </p:spPr>
      </p:pic>
    </p:spTree>
    <p:extLst>
      <p:ext uri="{BB962C8B-B14F-4D97-AF65-F5344CB8AC3E}">
        <p14:creationId xmlns:p14="http://schemas.microsoft.com/office/powerpoint/2010/main" val="3000897896"/>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11" r:id="rId5"/>
    <p:sldLayoutId id="2147483760" r:id="rId6"/>
    <p:sldLayoutId id="2147483762" r:id="rId7"/>
    <p:sldLayoutId id="2147483706" r:id="rId8"/>
    <p:sldLayoutId id="2147483709" r:id="rId9"/>
    <p:sldLayoutId id="2147483707" r:id="rId10"/>
    <p:sldLayoutId id="2147483708" r:id="rId11"/>
  </p:sldLayoutIdLst>
  <p:hf sldNum="0" hdr="0" ftr="0" dt="0"/>
  <p:txStyles>
    <p:title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A11E26-4C38-41A6-9857-11032CEECD80}"/>
              </a:ext>
            </a:extLst>
          </p:cNvPr>
          <p:cNvSpPr>
            <a:spLocks noGrp="1"/>
          </p:cNvSpPr>
          <p:nvPr>
            <p:ph type="ctrTitle"/>
          </p:nvPr>
        </p:nvSpPr>
        <p:spPr>
          <a:xfrm>
            <a:off x="1359108" y="1821635"/>
            <a:ext cx="9144000" cy="977778"/>
          </a:xfrm>
        </p:spPr>
        <p:txBody>
          <a:bodyPr/>
          <a:lstStyle/>
          <a:p>
            <a:pPr algn="ctr"/>
            <a:r>
              <a:rPr lang="en-US" b="1" dirty="0">
                <a:solidFill>
                  <a:schemeClr val="accent1"/>
                </a:solidFill>
                <a:latin typeface="Arial" panose="020B0604020202020204" pitchFamily="34" charset="0"/>
                <a:cs typeface="Arial" panose="020B0604020202020204" pitchFamily="34" charset="0"/>
              </a:rPr>
              <a:t>Project title</a:t>
            </a:r>
          </a:p>
        </p:txBody>
      </p:sp>
      <p:sp>
        <p:nvSpPr>
          <p:cNvPr id="3" name="TextBox 2"/>
          <p:cNvSpPr txBox="1"/>
          <p:nvPr/>
        </p:nvSpPr>
        <p:spPr>
          <a:xfrm>
            <a:off x="-329782" y="1034321"/>
            <a:ext cx="12726648" cy="584775"/>
          </a:xfrm>
          <a:prstGeom prst="rect">
            <a:avLst/>
          </a:prstGeom>
          <a:noFill/>
        </p:spPr>
        <p:txBody>
          <a:bodyPr wrap="square" lIns="91440" tIns="45720" rIns="91440" bIns="45720" rtlCol="0" anchor="t">
            <a:spAutoFit/>
          </a:bodyPr>
          <a:lstStyle/>
          <a:p>
            <a:pPr algn="ctr"/>
            <a:r>
              <a:rPr lang="en-US" sz="3200" b="1" dirty="0">
                <a:solidFill>
                  <a:schemeClr val="accent1">
                    <a:lumMod val="75000"/>
                  </a:schemeClr>
                </a:solidFill>
                <a:latin typeface="Arial"/>
                <a:cs typeface="Arial"/>
              </a:rPr>
              <a:t>CAPSTONE PROJECT</a:t>
            </a:r>
          </a:p>
        </p:txBody>
      </p:sp>
      <p:sp>
        <p:nvSpPr>
          <p:cNvPr id="4" name="TextBox 3"/>
          <p:cNvSpPr txBox="1"/>
          <p:nvPr/>
        </p:nvSpPr>
        <p:spPr>
          <a:xfrm>
            <a:off x="3202196" y="4058588"/>
            <a:ext cx="7980183" cy="1323439"/>
          </a:xfrm>
          <a:prstGeom prst="rect">
            <a:avLst/>
          </a:prstGeom>
          <a:noFill/>
        </p:spPr>
        <p:txBody>
          <a:bodyPr wrap="square" lIns="91440" tIns="45720" rIns="91440" bIns="45720" rtlCol="0" anchor="t">
            <a:spAutoFit/>
          </a:bodyPr>
          <a:lstStyle/>
          <a:p>
            <a:r>
              <a:rPr lang="en-US" sz="2000" b="1" dirty="0">
                <a:solidFill>
                  <a:schemeClr val="accent1">
                    <a:lumMod val="75000"/>
                  </a:schemeClr>
                </a:solidFill>
                <a:latin typeface="Arial" pitchFamily="34" charset="0"/>
                <a:cs typeface="Arial" pitchFamily="34" charset="0"/>
              </a:rPr>
              <a:t>Presented By:</a:t>
            </a:r>
          </a:p>
          <a:p>
            <a:pPr marL="457200" indent="-457200">
              <a:buAutoNum type="arabicPeriod"/>
            </a:pPr>
            <a:r>
              <a:rPr lang="en-US" sz="2000" b="1" dirty="0">
                <a:solidFill>
                  <a:schemeClr val="accent1">
                    <a:lumMod val="75000"/>
                  </a:schemeClr>
                </a:solidFill>
                <a:latin typeface="Arial"/>
                <a:cs typeface="Arial"/>
              </a:rPr>
              <a:t>Student Name- SWETA GHOSH</a:t>
            </a:r>
          </a:p>
          <a:p>
            <a:pPr marL="457200" indent="-457200">
              <a:buAutoNum type="arabicPeriod"/>
            </a:pPr>
            <a:r>
              <a:rPr lang="en-US" sz="2000" b="1" dirty="0">
                <a:solidFill>
                  <a:schemeClr val="accent1">
                    <a:lumMod val="75000"/>
                  </a:schemeClr>
                </a:solidFill>
                <a:latin typeface="Arial"/>
                <a:cs typeface="Arial"/>
              </a:rPr>
              <a:t>College Name- NETAJI SUBHASH ENGINEERING COLLEGE</a:t>
            </a:r>
          </a:p>
          <a:p>
            <a:pPr marL="457200" indent="-457200">
              <a:buAutoNum type="arabicPeriod"/>
            </a:pPr>
            <a:r>
              <a:rPr lang="en-US" sz="2000" b="1" dirty="0">
                <a:solidFill>
                  <a:schemeClr val="accent1">
                    <a:lumMod val="75000"/>
                  </a:schemeClr>
                </a:solidFill>
                <a:latin typeface="Arial"/>
                <a:cs typeface="Arial"/>
              </a:rPr>
              <a:t>Department- ECE</a:t>
            </a:r>
          </a:p>
        </p:txBody>
      </p:sp>
    </p:spTree>
    <p:extLst>
      <p:ext uri="{BB962C8B-B14F-4D97-AF65-F5344CB8AC3E}">
        <p14:creationId xmlns:p14="http://schemas.microsoft.com/office/powerpoint/2010/main" val="9533255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FFEB4C-F209-4AE7-AA2B-B3C26CE2C51D}"/>
              </a:ext>
            </a:extLst>
          </p:cNvPr>
          <p:cNvSpPr>
            <a:spLocks noGrp="1"/>
          </p:cNvSpPr>
          <p:nvPr>
            <p:ph type="title"/>
          </p:nvPr>
        </p:nvSpPr>
        <p:spPr>
          <a:xfrm>
            <a:off x="849573" y="558468"/>
            <a:ext cx="10515600" cy="1325563"/>
          </a:xfrm>
        </p:spPr>
        <p:txBody>
          <a:bodyPr/>
          <a:lstStyle/>
          <a:p>
            <a:r>
              <a:rPr lang="en-US" b="1" dirty="0">
                <a:solidFill>
                  <a:srgbClr val="002060"/>
                </a:solidFill>
                <a:latin typeface="Arial" panose="020B0604020202020204" pitchFamily="34" charset="0"/>
                <a:cs typeface="Arial" panose="020B0604020202020204" pitchFamily="34" charset="0"/>
              </a:rPr>
              <a:t>OUTLINE</a:t>
            </a:r>
          </a:p>
        </p:txBody>
      </p:sp>
      <p:sp>
        <p:nvSpPr>
          <p:cNvPr id="3" name="Content Placeholder 2">
            <a:extLst>
              <a:ext uri="{FF2B5EF4-FFF2-40B4-BE49-F238E27FC236}">
                <a16:creationId xmlns:a16="http://schemas.microsoft.com/office/drawing/2014/main" id="{B2678641-EEA3-4EC4-BF39-4075B0C120E8}"/>
              </a:ext>
            </a:extLst>
          </p:cNvPr>
          <p:cNvSpPr>
            <a:spLocks noGrp="1"/>
          </p:cNvSpPr>
          <p:nvPr>
            <p:ph idx="1"/>
          </p:nvPr>
        </p:nvSpPr>
        <p:spPr>
          <a:xfrm>
            <a:off x="838200" y="1618938"/>
            <a:ext cx="11019020" cy="5239062"/>
          </a:xfrm>
        </p:spPr>
        <p:txBody>
          <a:bodyPr vert="horz" lIns="91440" tIns="45720" rIns="91440" bIns="45720" rtlCol="0" anchor="t">
            <a:noAutofit/>
          </a:bodyPr>
          <a:lstStyle/>
          <a:p>
            <a:pPr marL="0" indent="0">
              <a:buNone/>
            </a:pPr>
            <a:r>
              <a:rPr lang="en-US" sz="2000" b="1" dirty="0">
                <a:latin typeface="Arial"/>
                <a:ea typeface="+mn-lt"/>
                <a:cs typeface="Arial"/>
              </a:rPr>
              <a:t>  </a:t>
            </a:r>
            <a:endParaRPr lang="en-US" dirty="0">
              <a:latin typeface="Arial"/>
              <a:cs typeface="Arial"/>
            </a:endParaRPr>
          </a:p>
          <a:p>
            <a:r>
              <a:rPr lang="en-US" sz="2000" b="1" dirty="0">
                <a:latin typeface="Arial"/>
                <a:ea typeface="+mn-lt"/>
                <a:cs typeface="Arial"/>
              </a:rPr>
              <a:t>Problem Statement</a:t>
            </a:r>
            <a:endParaRPr lang="en-US" dirty="0">
              <a:latin typeface="Arial"/>
              <a:cs typeface="Arial"/>
            </a:endParaRPr>
          </a:p>
          <a:p>
            <a:r>
              <a:rPr lang="en-US" sz="2000" b="1" dirty="0">
                <a:latin typeface="Arial"/>
                <a:ea typeface="+mn-lt"/>
                <a:cs typeface="Arial"/>
              </a:rPr>
              <a:t>Proposed System/Solution</a:t>
            </a:r>
            <a:endParaRPr lang="en-US" dirty="0">
              <a:latin typeface="Arial"/>
              <a:cs typeface="Arial"/>
            </a:endParaRPr>
          </a:p>
          <a:p>
            <a:r>
              <a:rPr lang="en-US" sz="2000" b="1" dirty="0">
                <a:latin typeface="Arial"/>
                <a:ea typeface="+mn-lt"/>
                <a:cs typeface="Calibri"/>
              </a:rPr>
              <a:t>System </a:t>
            </a:r>
            <a:r>
              <a:rPr lang="en-US" sz="2000" b="1" dirty="0">
                <a:latin typeface="Arial"/>
                <a:ea typeface="+mn-lt"/>
                <a:cs typeface="+mn-lt"/>
              </a:rPr>
              <a:t>Development Approach</a:t>
            </a:r>
            <a:endParaRPr lang="en-US" dirty="0">
              <a:latin typeface="Arial"/>
              <a:ea typeface="+mn-lt"/>
              <a:cs typeface="+mn-lt"/>
            </a:endParaRPr>
          </a:p>
          <a:p>
            <a:r>
              <a:rPr lang="en-US" sz="2000" b="1" dirty="0">
                <a:latin typeface="Arial"/>
                <a:ea typeface="+mn-lt"/>
                <a:cs typeface="+mn-lt"/>
              </a:rPr>
              <a:t>Algorithm &amp; Deployment  </a:t>
            </a:r>
            <a:endParaRPr lang="en-US" dirty="0">
              <a:latin typeface="Arial"/>
              <a:cs typeface="Calibri"/>
            </a:endParaRPr>
          </a:p>
          <a:p>
            <a:r>
              <a:rPr lang="en-US" sz="2000" b="1" dirty="0">
                <a:latin typeface="Arial"/>
                <a:ea typeface="+mn-lt"/>
                <a:cs typeface="Arial"/>
              </a:rPr>
              <a:t>Result</a:t>
            </a:r>
          </a:p>
          <a:p>
            <a:r>
              <a:rPr lang="en-US" sz="2000" b="1" dirty="0">
                <a:latin typeface="Arial"/>
                <a:ea typeface="+mn-lt"/>
                <a:cs typeface="Arial"/>
              </a:rPr>
              <a:t>Conclusion</a:t>
            </a:r>
            <a:endParaRPr lang="en-US" dirty="0">
              <a:latin typeface="Arial"/>
              <a:cs typeface="Arial"/>
            </a:endParaRPr>
          </a:p>
          <a:p>
            <a:r>
              <a:rPr lang="en-US" sz="2000" b="1" dirty="0">
                <a:latin typeface="Arial"/>
                <a:ea typeface="+mn-lt"/>
                <a:cs typeface="Arial"/>
              </a:rPr>
              <a:t>Future Scope</a:t>
            </a:r>
          </a:p>
          <a:p>
            <a:r>
              <a:rPr lang="en-US" sz="2000" b="1" dirty="0">
                <a:latin typeface="Arial"/>
                <a:ea typeface="+mn-lt"/>
                <a:cs typeface="Arial"/>
              </a:rPr>
              <a:t>References</a:t>
            </a:r>
            <a:endParaRPr lang="en-US" dirty="0">
              <a:latin typeface="Arial"/>
              <a:cs typeface="Arial"/>
            </a:endParaRPr>
          </a:p>
          <a:p>
            <a:endParaRPr lang="en-US" dirty="0">
              <a:latin typeface="Arial"/>
              <a:cs typeface="Arial"/>
            </a:endParaRPr>
          </a:p>
        </p:txBody>
      </p:sp>
    </p:spTree>
    <p:extLst>
      <p:ext uri="{BB962C8B-B14F-4D97-AF65-F5344CB8AC3E}">
        <p14:creationId xmlns:p14="http://schemas.microsoft.com/office/powerpoint/2010/main" val="29001537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dirty="0">
                <a:solidFill>
                  <a:schemeClr val="accent1"/>
                </a:solidFill>
                <a:latin typeface="Arial" panose="020B0604020202020204" pitchFamily="34" charset="0"/>
                <a:cs typeface="Arial" panose="020B0604020202020204" pitchFamily="34" charset="0"/>
              </a:rPr>
              <a:t>Problem Statement</a:t>
            </a:r>
            <a:endParaRPr lang="en-US" sz="4400" dirty="0"/>
          </a:p>
        </p:txBody>
      </p:sp>
      <p:sp>
        <p:nvSpPr>
          <p:cNvPr id="3" name="Content Placeholder 2">
            <a:extLst>
              <a:ext uri="{FF2B5EF4-FFF2-40B4-BE49-F238E27FC236}">
                <a16:creationId xmlns:a16="http://schemas.microsoft.com/office/drawing/2014/main" id="{1F9962AE-D057-A3F4-FCA4-68E6CC10EC66}"/>
              </a:ext>
            </a:extLst>
          </p:cNvPr>
          <p:cNvSpPr txBox="1">
            <a:spLocks/>
          </p:cNvSpPr>
          <p:nvPr/>
        </p:nvSpPr>
        <p:spPr>
          <a:xfrm>
            <a:off x="838200" y="1618938"/>
            <a:ext cx="11019020" cy="5239062"/>
          </a:xfrm>
          <a:prstGeom prst="rect">
            <a:avLst/>
          </a:prstGeom>
        </p:spPr>
        <p:txBody>
          <a:bodyPr vert="horz" lIns="91440" tIns="45720" rIns="91440" bIns="45720" rtlCol="0" anchor="t">
            <a:noAutofit/>
          </a:bodyPr>
          <a:lst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None/>
            </a:pPr>
            <a:r>
              <a:rPr lang="en-US" sz="2000" b="1" dirty="0">
                <a:latin typeface="Arial" panose="020B0604020202020204" pitchFamily="34" charset="0"/>
                <a:cs typeface="Arial" panose="020B0604020202020204" pitchFamily="34" charset="0"/>
              </a:rPr>
              <a:t>Electric Vehicle Charging Stations (EVCS) rely heavily on networked communication using the Open Charge Point Protocol (OCPP 1.6). Due to their integration with IoT, cloud platforms, and power infrastructure, EVCS are vulnerable to cyberattacks such as Denial of Service (DoS), unauthorized access, false data injection, and malware-based intrusions.</a:t>
            </a:r>
          </a:p>
          <a:p>
            <a:pPr marL="0" indent="0">
              <a:buNone/>
            </a:pPr>
            <a:r>
              <a:rPr lang="en-US" sz="2000" b="1" dirty="0">
                <a:latin typeface="Arial" panose="020B0604020202020204" pitchFamily="34" charset="0"/>
                <a:cs typeface="Arial" panose="020B0604020202020204" pitchFamily="34" charset="0"/>
              </a:rPr>
              <a:t>Traditional Intrusion Detection Systems (IDS) are not well-suited for handling:</a:t>
            </a:r>
          </a:p>
          <a:p>
            <a:pPr>
              <a:buFont typeface="Wingdings" panose="05000000000000000000" pitchFamily="2" charset="2"/>
              <a:buChar char="Ø"/>
            </a:pPr>
            <a:r>
              <a:rPr lang="en-US" sz="2000" b="1" dirty="0">
                <a:latin typeface="Arial" panose="020B0604020202020204" pitchFamily="34" charset="0"/>
                <a:cs typeface="Arial" panose="020B0604020202020204" pitchFamily="34" charset="0"/>
              </a:rPr>
              <a:t>Temporal attack patterns in EV charging communication</a:t>
            </a:r>
          </a:p>
          <a:p>
            <a:pPr>
              <a:buFont typeface="Wingdings" panose="05000000000000000000" pitchFamily="2" charset="2"/>
              <a:buChar char="Ø"/>
            </a:pPr>
            <a:r>
              <a:rPr lang="en-US" sz="2000" b="1" dirty="0">
                <a:latin typeface="Arial" panose="020B0604020202020204" pitchFamily="34" charset="0"/>
                <a:cs typeface="Arial" panose="020B0604020202020204" pitchFamily="34" charset="0"/>
              </a:rPr>
              <a:t>Limited and imbalanced attack datasets</a:t>
            </a:r>
          </a:p>
          <a:p>
            <a:pPr>
              <a:buFont typeface="Wingdings" panose="05000000000000000000" pitchFamily="2" charset="2"/>
              <a:buChar char="Ø"/>
            </a:pPr>
            <a:r>
              <a:rPr lang="en-US" sz="2000" b="1" dirty="0">
                <a:latin typeface="Arial" panose="020B0604020202020204" pitchFamily="34" charset="0"/>
                <a:cs typeface="Arial" panose="020B0604020202020204" pitchFamily="34" charset="0"/>
              </a:rPr>
              <a:t>Lack of explainability for system operators</a:t>
            </a:r>
          </a:p>
          <a:p>
            <a:pPr marL="0" indent="0">
              <a:buNone/>
            </a:pPr>
            <a:r>
              <a:rPr lang="en-US" sz="2000" b="1" dirty="0">
                <a:latin typeface="Arial" panose="020B0604020202020204" pitchFamily="34" charset="0"/>
                <a:cs typeface="Arial" panose="020B0604020202020204" pitchFamily="34" charset="0"/>
              </a:rPr>
              <a:t>Hence, there is a need for a secure, intelligent, and explainable IDS tailored specifically for EV charging infrastructure.</a:t>
            </a:r>
          </a:p>
        </p:txBody>
      </p:sp>
    </p:spTree>
    <p:extLst>
      <p:ext uri="{BB962C8B-B14F-4D97-AF65-F5344CB8AC3E}">
        <p14:creationId xmlns:p14="http://schemas.microsoft.com/office/powerpoint/2010/main" val="11864211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panose="020B0604020202020204" pitchFamily="34" charset="0"/>
                <a:cs typeface="Arial" panose="020B0604020202020204" pitchFamily="34" charset="0"/>
              </a:rPr>
              <a:t>Proposed Solution</a:t>
            </a:r>
            <a:endParaRPr lang="en-US" sz="4400"/>
          </a:p>
        </p:txBody>
      </p:sp>
      <p:sp>
        <p:nvSpPr>
          <p:cNvPr id="2" name="Content Placeholder 1">
            <a:extLst>
              <a:ext uri="{FF2B5EF4-FFF2-40B4-BE49-F238E27FC236}">
                <a16:creationId xmlns:a16="http://schemas.microsoft.com/office/drawing/2014/main" id="{E041FD9D-DF07-9C37-1E61-1D920E0EF1D4}"/>
              </a:ext>
            </a:extLst>
          </p:cNvPr>
          <p:cNvSpPr>
            <a:spLocks noGrp="1"/>
          </p:cNvSpPr>
          <p:nvPr>
            <p:ph idx="1"/>
          </p:nvPr>
        </p:nvSpPr>
        <p:spPr>
          <a:xfrm>
            <a:off x="441671" y="1087378"/>
            <a:ext cx="11613485" cy="5563973"/>
          </a:xfrm>
        </p:spPr>
        <p:txBody>
          <a:bodyPr vert="horz" lIns="91440" tIns="45720" rIns="91440" bIns="45720" rtlCol="0" anchor="ctr">
            <a:noAutofit/>
          </a:bodyPr>
          <a:lstStyle/>
          <a:p>
            <a:pPr marL="305435" indent="-305435"/>
            <a:endParaRPr lang="en-IN" sz="1600" dirty="0"/>
          </a:p>
          <a:p>
            <a:pPr marL="0" indent="0">
              <a:buNone/>
            </a:pPr>
            <a:endParaRPr lang="en-IN" dirty="0"/>
          </a:p>
        </p:txBody>
      </p:sp>
      <p:sp>
        <p:nvSpPr>
          <p:cNvPr id="3" name="Content Placeholder 2">
            <a:extLst>
              <a:ext uri="{FF2B5EF4-FFF2-40B4-BE49-F238E27FC236}">
                <a16:creationId xmlns:a16="http://schemas.microsoft.com/office/drawing/2014/main" id="{9841C59E-A5F8-B9A3-12A9-338891212936}"/>
              </a:ext>
            </a:extLst>
          </p:cNvPr>
          <p:cNvSpPr txBox="1">
            <a:spLocks/>
          </p:cNvSpPr>
          <p:nvPr/>
        </p:nvSpPr>
        <p:spPr>
          <a:xfrm>
            <a:off x="838200" y="1618938"/>
            <a:ext cx="11019020" cy="5239062"/>
          </a:xfrm>
          <a:prstGeom prst="rect">
            <a:avLst/>
          </a:prstGeom>
        </p:spPr>
        <p:txBody>
          <a:bodyPr vert="horz" lIns="91440" tIns="45720" rIns="91440" bIns="45720" rtlCol="0" anchor="t">
            <a:noAutofit/>
          </a:bodyPr>
          <a:lst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None/>
            </a:pPr>
            <a:r>
              <a:rPr lang="en-US" sz="2000" b="1" dirty="0">
                <a:latin typeface="Arial" panose="020B0604020202020204" pitchFamily="34" charset="0"/>
                <a:cs typeface="Arial" panose="020B0604020202020204" pitchFamily="34" charset="0"/>
              </a:rPr>
              <a:t>This project proposes a Temporal Secure Intrusion Detection System for EV Charging Stations using a Generative AI-driven approach. The system integrates classical ML, deep learning, and generative models to detect, explain, and respond to cyber threats in EVCS.</a:t>
            </a:r>
          </a:p>
          <a:p>
            <a:pPr marL="0" indent="0">
              <a:buNone/>
            </a:pPr>
            <a:r>
              <a:rPr lang="en-US" sz="2000" b="1" dirty="0">
                <a:latin typeface="Arial" panose="020B0604020202020204" pitchFamily="34" charset="0"/>
                <a:cs typeface="Arial" panose="020B0604020202020204" pitchFamily="34" charset="0"/>
              </a:rPr>
              <a:t>Key features:</a:t>
            </a:r>
          </a:p>
          <a:p>
            <a:pPr>
              <a:buFont typeface="Wingdings" panose="05000000000000000000" pitchFamily="2" charset="2"/>
              <a:buChar char="v"/>
            </a:pPr>
            <a:r>
              <a:rPr lang="en-US" sz="2000" b="1" dirty="0">
                <a:latin typeface="Arial" panose="020B0604020202020204" pitchFamily="34" charset="0"/>
                <a:cs typeface="Arial" panose="020B0604020202020204" pitchFamily="34" charset="0"/>
              </a:rPr>
              <a:t>Detection of network, host-based, and power-based anomalies</a:t>
            </a:r>
          </a:p>
          <a:p>
            <a:pPr>
              <a:buFont typeface="Wingdings" panose="05000000000000000000" pitchFamily="2" charset="2"/>
              <a:buChar char="v"/>
            </a:pPr>
            <a:r>
              <a:rPr lang="en-US" sz="2000" b="1" dirty="0">
                <a:latin typeface="Arial" panose="020B0604020202020204" pitchFamily="34" charset="0"/>
                <a:cs typeface="Arial" panose="020B0604020202020204" pitchFamily="34" charset="0"/>
              </a:rPr>
              <a:t>Temporal modeling of OCPP 1.6 communication</a:t>
            </a:r>
          </a:p>
          <a:p>
            <a:pPr>
              <a:buFont typeface="Wingdings" panose="05000000000000000000" pitchFamily="2" charset="2"/>
              <a:buChar char="v"/>
            </a:pPr>
            <a:r>
              <a:rPr lang="en-US" sz="2000" b="1" dirty="0">
                <a:latin typeface="Arial" panose="020B0604020202020204" pitchFamily="34" charset="0"/>
                <a:cs typeface="Arial" panose="020B0604020202020204" pitchFamily="34" charset="0"/>
              </a:rPr>
              <a:t>Synthetic attack data generation using WCGAN</a:t>
            </a:r>
          </a:p>
          <a:p>
            <a:pPr>
              <a:buFont typeface="Wingdings" panose="05000000000000000000" pitchFamily="2" charset="2"/>
              <a:buChar char="v"/>
            </a:pPr>
            <a:r>
              <a:rPr lang="en-US" sz="2000" b="1" dirty="0">
                <a:latin typeface="Arial" panose="020B0604020202020204" pitchFamily="34" charset="0"/>
                <a:cs typeface="Arial" panose="020B0604020202020204" pitchFamily="34" charset="0"/>
              </a:rPr>
              <a:t>Gen-AI chatbot for explanation and operator assistance</a:t>
            </a:r>
          </a:p>
          <a:p>
            <a:pPr marL="0" indent="0">
              <a:buNone/>
            </a:pPr>
            <a:endParaRPr lang="en-US" sz="20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103584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a:xfrm>
            <a:off x="581192" y="662572"/>
            <a:ext cx="11029616" cy="530296"/>
          </a:xfrm>
        </p:spPr>
        <p:txBody>
          <a:bodyPr>
            <a:normAutofit fontScale="90000"/>
          </a:bodyPr>
          <a:lstStyle/>
          <a:p>
            <a:r>
              <a:rPr lang="en-US" sz="4400" b="1">
                <a:solidFill>
                  <a:schemeClr val="accent1"/>
                </a:solidFill>
                <a:latin typeface="Arial"/>
                <a:ea typeface="+mj-lt"/>
                <a:cs typeface="Arial"/>
              </a:rPr>
              <a:t>System  Approach</a:t>
            </a:r>
            <a:endParaRPr lang="en-US" sz="4400">
              <a:solidFill>
                <a:schemeClr val="accent1"/>
              </a:solidFill>
              <a:latin typeface="Calibri Light"/>
              <a:cs typeface="Calibri Light"/>
            </a:endParaRPr>
          </a:p>
        </p:txBody>
      </p:sp>
      <p:sp>
        <p:nvSpPr>
          <p:cNvPr id="2" name="Content Placeholder 2">
            <a:extLst>
              <a:ext uri="{FF2B5EF4-FFF2-40B4-BE49-F238E27FC236}">
                <a16:creationId xmlns:a16="http://schemas.microsoft.com/office/drawing/2014/main" id="{D7489AF5-DFAA-373D-295B-7A3ECD67D9DA}"/>
              </a:ext>
            </a:extLst>
          </p:cNvPr>
          <p:cNvSpPr txBox="1">
            <a:spLocks/>
          </p:cNvSpPr>
          <p:nvPr/>
        </p:nvSpPr>
        <p:spPr>
          <a:xfrm>
            <a:off x="881062" y="1504638"/>
            <a:ext cx="11019020" cy="5239062"/>
          </a:xfrm>
          <a:prstGeom prst="rect">
            <a:avLst/>
          </a:prstGeom>
        </p:spPr>
        <p:txBody>
          <a:bodyPr vert="horz" lIns="91440" tIns="45720" rIns="91440" bIns="45720" rtlCol="0" anchor="t">
            <a:noAutofit/>
          </a:bodyPr>
          <a:lst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None/>
            </a:pPr>
            <a:r>
              <a:rPr lang="en-IN" b="1" dirty="0">
                <a:latin typeface="Arial" panose="020B0604020202020204" pitchFamily="34" charset="0"/>
                <a:cs typeface="Arial" panose="020B0604020202020204" pitchFamily="34" charset="0"/>
              </a:rPr>
              <a:t>System Development Approach</a:t>
            </a:r>
          </a:p>
          <a:p>
            <a:pPr marL="0" indent="0">
              <a:buNone/>
            </a:pPr>
            <a:r>
              <a:rPr lang="en-IN" b="1" dirty="0">
                <a:latin typeface="Arial" panose="020B0604020202020204" pitchFamily="34" charset="0"/>
                <a:cs typeface="Arial" panose="020B0604020202020204" pitchFamily="34" charset="0"/>
              </a:rPr>
              <a:t>Data Collection</a:t>
            </a:r>
          </a:p>
          <a:p>
            <a:pPr lvl="1">
              <a:buFont typeface="Arial" panose="020B0604020202020204" pitchFamily="34" charset="0"/>
              <a:buChar char="•"/>
            </a:pPr>
            <a:r>
              <a:rPr lang="en-IN" b="1" dirty="0">
                <a:latin typeface="Arial" panose="020B0604020202020204" pitchFamily="34" charset="0"/>
                <a:cs typeface="Arial" panose="020B0604020202020204" pitchFamily="34" charset="0"/>
              </a:rPr>
              <a:t>Use CIC EV Charger Attack Dataset 2024 (CICEVSE2024)</a:t>
            </a:r>
          </a:p>
          <a:p>
            <a:pPr lvl="1">
              <a:buFont typeface="Arial" panose="020B0604020202020204" pitchFamily="34" charset="0"/>
              <a:buChar char="•"/>
            </a:pPr>
            <a:r>
              <a:rPr lang="en-IN" b="1" dirty="0">
                <a:latin typeface="Arial" panose="020B0604020202020204" pitchFamily="34" charset="0"/>
                <a:cs typeface="Arial" panose="020B0604020202020204" pitchFamily="34" charset="0"/>
              </a:rPr>
              <a:t>Network traffic (.csv), host logs (HPC &amp; kernel events), and power consumption data</a:t>
            </a:r>
          </a:p>
          <a:p>
            <a:pPr marL="0" indent="0">
              <a:buNone/>
            </a:pPr>
            <a:r>
              <a:rPr lang="en-IN" b="1" dirty="0">
                <a:latin typeface="Arial" panose="020B0604020202020204" pitchFamily="34" charset="0"/>
                <a:cs typeface="Arial" panose="020B0604020202020204" pitchFamily="34" charset="0"/>
              </a:rPr>
              <a:t>Data Preprocessing</a:t>
            </a:r>
          </a:p>
          <a:p>
            <a:pPr lvl="1">
              <a:buFont typeface="Arial" panose="020B0604020202020204" pitchFamily="34" charset="0"/>
              <a:buChar char="•"/>
            </a:pPr>
            <a:r>
              <a:rPr lang="en-IN" b="1" dirty="0">
                <a:latin typeface="Arial" panose="020B0604020202020204" pitchFamily="34" charset="0"/>
                <a:cs typeface="Arial" panose="020B0604020202020204" pitchFamily="34" charset="0"/>
              </a:rPr>
              <a:t>Cleaning, normalization, feature extraction</a:t>
            </a:r>
          </a:p>
          <a:p>
            <a:pPr lvl="1">
              <a:buFont typeface="Arial" panose="020B0604020202020204" pitchFamily="34" charset="0"/>
              <a:buChar char="•"/>
            </a:pPr>
            <a:r>
              <a:rPr lang="en-IN" b="1" dirty="0">
                <a:latin typeface="Arial" panose="020B0604020202020204" pitchFamily="34" charset="0"/>
                <a:cs typeface="Arial" panose="020B0604020202020204" pitchFamily="34" charset="0"/>
              </a:rPr>
              <a:t>Label encoding and temporal windowing</a:t>
            </a:r>
          </a:p>
          <a:p>
            <a:pPr marL="0" indent="0">
              <a:buNone/>
            </a:pPr>
            <a:r>
              <a:rPr lang="en-IN" b="1" dirty="0">
                <a:latin typeface="Arial" panose="020B0604020202020204" pitchFamily="34" charset="0"/>
                <a:cs typeface="Arial" panose="020B0604020202020204" pitchFamily="34" charset="0"/>
              </a:rPr>
              <a:t>Model Development</a:t>
            </a:r>
          </a:p>
          <a:p>
            <a:pPr lvl="1">
              <a:buFont typeface="Arial" panose="020B0604020202020204" pitchFamily="34" charset="0"/>
              <a:buChar char="•"/>
            </a:pPr>
            <a:r>
              <a:rPr lang="en-IN" b="1" dirty="0">
                <a:latin typeface="Arial" panose="020B0604020202020204" pitchFamily="34" charset="0"/>
                <a:cs typeface="Arial" panose="020B0604020202020204" pitchFamily="34" charset="0"/>
              </a:rPr>
              <a:t>ML models: Random Forest, SVM, </a:t>
            </a:r>
            <a:r>
              <a:rPr lang="en-IN" b="1" dirty="0" err="1">
                <a:latin typeface="Arial" panose="020B0604020202020204" pitchFamily="34" charset="0"/>
                <a:cs typeface="Arial" panose="020B0604020202020204" pitchFamily="34" charset="0"/>
              </a:rPr>
              <a:t>XGBoost</a:t>
            </a:r>
            <a:endParaRPr lang="en-IN" b="1" dirty="0">
              <a:latin typeface="Arial" panose="020B0604020202020204" pitchFamily="34" charset="0"/>
              <a:cs typeface="Arial" panose="020B0604020202020204" pitchFamily="34" charset="0"/>
            </a:endParaRPr>
          </a:p>
          <a:p>
            <a:pPr lvl="1">
              <a:buFont typeface="Arial" panose="020B0604020202020204" pitchFamily="34" charset="0"/>
              <a:buChar char="•"/>
            </a:pPr>
            <a:r>
              <a:rPr lang="en-IN" b="1" dirty="0">
                <a:latin typeface="Arial" panose="020B0604020202020204" pitchFamily="34" charset="0"/>
                <a:cs typeface="Arial" panose="020B0604020202020204" pitchFamily="34" charset="0"/>
              </a:rPr>
              <a:t>Deep learning models: CNN for spatial-temporal features, LSTM for sequence learning</a:t>
            </a:r>
          </a:p>
          <a:p>
            <a:pPr marL="0" indent="0">
              <a:buNone/>
            </a:pPr>
            <a:r>
              <a:rPr lang="en-IN" b="1" dirty="0">
                <a:latin typeface="Arial" panose="020B0604020202020204" pitchFamily="34" charset="0"/>
                <a:cs typeface="Arial" panose="020B0604020202020204" pitchFamily="34" charset="0"/>
              </a:rPr>
              <a:t>Data Augmentation</a:t>
            </a:r>
          </a:p>
          <a:p>
            <a:pPr lvl="1">
              <a:buFont typeface="Arial" panose="020B0604020202020204" pitchFamily="34" charset="0"/>
              <a:buChar char="•"/>
            </a:pPr>
            <a:r>
              <a:rPr lang="en-IN" b="1" dirty="0">
                <a:latin typeface="Arial" panose="020B0604020202020204" pitchFamily="34" charset="0"/>
                <a:cs typeface="Arial" panose="020B0604020202020204" pitchFamily="34" charset="0"/>
              </a:rPr>
              <a:t>Wasserstein Conditional GAN (WCGAN) to generate realistic synthetic attack samples</a:t>
            </a:r>
          </a:p>
          <a:p>
            <a:pPr marL="0" indent="0">
              <a:buNone/>
            </a:pPr>
            <a:r>
              <a:rPr lang="en-IN" b="1" dirty="0">
                <a:latin typeface="Arial" panose="020B0604020202020204" pitchFamily="34" charset="0"/>
                <a:cs typeface="Arial" panose="020B0604020202020204" pitchFamily="34" charset="0"/>
              </a:rPr>
              <a:t>Explainability &amp; Interaction</a:t>
            </a:r>
          </a:p>
          <a:p>
            <a:pPr lvl="1">
              <a:buFont typeface="Arial" panose="020B0604020202020204" pitchFamily="34" charset="0"/>
              <a:buChar char="•"/>
            </a:pPr>
            <a:r>
              <a:rPr lang="en-IN" b="1" dirty="0">
                <a:latin typeface="Arial" panose="020B0604020202020204" pitchFamily="34" charset="0"/>
                <a:cs typeface="Arial" panose="020B0604020202020204" pitchFamily="34" charset="0"/>
              </a:rPr>
              <a:t>Gen-AI chatbot to interpret IDS outputs and recommend mitigation actions</a:t>
            </a:r>
          </a:p>
          <a:p>
            <a:pPr marL="0" indent="0">
              <a:buNone/>
            </a:pPr>
            <a:endParaRPr lang="en-US" sz="20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020245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Algorithm &amp; Deployment</a:t>
            </a:r>
            <a:endParaRPr lang="en-US"/>
          </a:p>
        </p:txBody>
      </p:sp>
      <p:sp>
        <p:nvSpPr>
          <p:cNvPr id="4" name="Content Placeholder 2">
            <a:extLst>
              <a:ext uri="{FF2B5EF4-FFF2-40B4-BE49-F238E27FC236}">
                <a16:creationId xmlns:a16="http://schemas.microsoft.com/office/drawing/2014/main" id="{2D16FA8F-39B4-A25B-16CF-D41A5294C276}"/>
              </a:ext>
            </a:extLst>
          </p:cNvPr>
          <p:cNvSpPr txBox="1">
            <a:spLocks/>
          </p:cNvSpPr>
          <p:nvPr/>
        </p:nvSpPr>
        <p:spPr>
          <a:xfrm>
            <a:off x="881062" y="1504638"/>
            <a:ext cx="11019020" cy="5239062"/>
          </a:xfrm>
          <a:prstGeom prst="rect">
            <a:avLst/>
          </a:prstGeom>
        </p:spPr>
        <p:txBody>
          <a:bodyPr vert="horz" lIns="91440" tIns="45720" rIns="91440" bIns="45720" rtlCol="0" anchor="t">
            <a:noAutofit/>
          </a:bodyPr>
          <a:lst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None/>
            </a:pPr>
            <a:r>
              <a:rPr lang="en-IN" sz="2000" b="1" dirty="0">
                <a:latin typeface="Arial" panose="020B0604020202020204" pitchFamily="34" charset="0"/>
                <a:cs typeface="Arial" panose="020B0604020202020204" pitchFamily="34" charset="0"/>
              </a:rPr>
              <a:t>Algorithms Used:</a:t>
            </a:r>
          </a:p>
          <a:p>
            <a:pPr>
              <a:buFont typeface="Arial" panose="020B0604020202020204" pitchFamily="34" charset="0"/>
              <a:buChar char="•"/>
            </a:pPr>
            <a:r>
              <a:rPr lang="en-IN" sz="2000" b="1" dirty="0">
                <a:latin typeface="Arial" panose="020B0604020202020204" pitchFamily="34" charset="0"/>
                <a:cs typeface="Arial" panose="020B0604020202020204" pitchFamily="34" charset="0"/>
              </a:rPr>
              <a:t>Random Forest, SVM, </a:t>
            </a:r>
            <a:r>
              <a:rPr lang="en-IN" sz="2000" b="1" dirty="0" err="1">
                <a:latin typeface="Arial" panose="020B0604020202020204" pitchFamily="34" charset="0"/>
                <a:cs typeface="Arial" panose="020B0604020202020204" pitchFamily="34" charset="0"/>
              </a:rPr>
              <a:t>XGBoost</a:t>
            </a:r>
            <a:r>
              <a:rPr lang="en-IN" sz="2000" b="1" dirty="0">
                <a:latin typeface="Arial" panose="020B0604020202020204" pitchFamily="34" charset="0"/>
                <a:cs typeface="Arial" panose="020B0604020202020204" pitchFamily="34" charset="0"/>
              </a:rPr>
              <a:t> (Baseline ML IDS)</a:t>
            </a:r>
          </a:p>
          <a:p>
            <a:pPr>
              <a:buFont typeface="Arial" panose="020B0604020202020204" pitchFamily="34" charset="0"/>
              <a:buChar char="•"/>
            </a:pPr>
            <a:r>
              <a:rPr lang="en-IN" sz="2000" b="1" dirty="0">
                <a:latin typeface="Arial" panose="020B0604020202020204" pitchFamily="34" charset="0"/>
                <a:cs typeface="Arial" panose="020B0604020202020204" pitchFamily="34" charset="0"/>
              </a:rPr>
              <a:t>CNN (Temporal traffic representation)</a:t>
            </a:r>
          </a:p>
          <a:p>
            <a:pPr>
              <a:buFont typeface="Arial" panose="020B0604020202020204" pitchFamily="34" charset="0"/>
              <a:buChar char="•"/>
            </a:pPr>
            <a:r>
              <a:rPr lang="en-IN" sz="2000" b="1" dirty="0">
                <a:latin typeface="Arial" panose="020B0604020202020204" pitchFamily="34" charset="0"/>
                <a:cs typeface="Arial" panose="020B0604020202020204" pitchFamily="34" charset="0"/>
              </a:rPr>
              <a:t>LSTM (Sequential anomaly detection)</a:t>
            </a:r>
          </a:p>
          <a:p>
            <a:pPr>
              <a:buFont typeface="Arial" panose="020B0604020202020204" pitchFamily="34" charset="0"/>
              <a:buChar char="•"/>
            </a:pPr>
            <a:r>
              <a:rPr lang="en-IN" sz="2000" b="1" dirty="0">
                <a:latin typeface="Arial" panose="020B0604020202020204" pitchFamily="34" charset="0"/>
                <a:cs typeface="Arial" panose="020B0604020202020204" pitchFamily="34" charset="0"/>
              </a:rPr>
              <a:t>Wasserstein Conditional GAN (Synthetic attack generation)</a:t>
            </a:r>
          </a:p>
          <a:p>
            <a:pPr marL="0" indent="0">
              <a:buNone/>
            </a:pPr>
            <a:r>
              <a:rPr lang="en-IN" sz="2000" b="1" dirty="0">
                <a:latin typeface="Arial" panose="020B0604020202020204" pitchFamily="34" charset="0"/>
                <a:cs typeface="Arial" panose="020B0604020202020204" pitchFamily="34" charset="0"/>
              </a:rPr>
              <a:t>Deployment:</a:t>
            </a:r>
          </a:p>
          <a:p>
            <a:pPr>
              <a:buFont typeface="Arial" panose="020B0604020202020204" pitchFamily="34" charset="0"/>
              <a:buChar char="•"/>
            </a:pPr>
            <a:r>
              <a:rPr lang="en-IN" sz="2000" b="1" dirty="0">
                <a:latin typeface="Arial" panose="020B0604020202020204" pitchFamily="34" charset="0"/>
                <a:cs typeface="Arial" panose="020B0604020202020204" pitchFamily="34" charset="0"/>
              </a:rPr>
              <a:t>Backend: Python (Scikit-learn, TensorFlow, </a:t>
            </a:r>
            <a:r>
              <a:rPr lang="en-IN" sz="2000" b="1" dirty="0" err="1">
                <a:latin typeface="Arial" panose="020B0604020202020204" pitchFamily="34" charset="0"/>
                <a:cs typeface="Arial" panose="020B0604020202020204" pitchFamily="34" charset="0"/>
              </a:rPr>
              <a:t>PyTorch</a:t>
            </a:r>
            <a:r>
              <a:rPr lang="en-IN" sz="2000" b="1" dirty="0">
                <a:latin typeface="Arial" panose="020B0604020202020204" pitchFamily="34" charset="0"/>
                <a:cs typeface="Arial" panose="020B0604020202020204" pitchFamily="34" charset="0"/>
              </a:rPr>
              <a:t>)</a:t>
            </a:r>
          </a:p>
          <a:p>
            <a:pPr>
              <a:buFont typeface="Arial" panose="020B0604020202020204" pitchFamily="34" charset="0"/>
              <a:buChar char="•"/>
            </a:pPr>
            <a:r>
              <a:rPr lang="en-IN" sz="2000" b="1" dirty="0">
                <a:latin typeface="Arial" panose="020B0604020202020204" pitchFamily="34" charset="0"/>
                <a:cs typeface="Arial" panose="020B0604020202020204" pitchFamily="34" charset="0"/>
              </a:rPr>
              <a:t>Frontend: </a:t>
            </a:r>
            <a:r>
              <a:rPr lang="en-IN" sz="2000" b="1" dirty="0" err="1">
                <a:latin typeface="Arial" panose="020B0604020202020204" pitchFamily="34" charset="0"/>
                <a:cs typeface="Arial" panose="020B0604020202020204" pitchFamily="34" charset="0"/>
              </a:rPr>
              <a:t>Streamlit</a:t>
            </a:r>
            <a:r>
              <a:rPr lang="en-IN" sz="2000" b="1" dirty="0">
                <a:latin typeface="Arial" panose="020B0604020202020204" pitchFamily="34" charset="0"/>
                <a:cs typeface="Arial" panose="020B0604020202020204" pitchFamily="34" charset="0"/>
              </a:rPr>
              <a:t> / Flask + React</a:t>
            </a:r>
          </a:p>
          <a:p>
            <a:pPr>
              <a:buFont typeface="Arial" panose="020B0604020202020204" pitchFamily="34" charset="0"/>
              <a:buChar char="•"/>
            </a:pPr>
            <a:r>
              <a:rPr lang="en-IN" sz="2000" b="1" dirty="0">
                <a:latin typeface="Arial" panose="020B0604020202020204" pitchFamily="34" charset="0"/>
                <a:cs typeface="Arial" panose="020B0604020202020204" pitchFamily="34" charset="0"/>
              </a:rPr>
              <a:t>Chatbot: </a:t>
            </a:r>
            <a:r>
              <a:rPr lang="en-IN" sz="2000" b="1" dirty="0" err="1">
                <a:latin typeface="Arial" panose="020B0604020202020204" pitchFamily="34" charset="0"/>
                <a:cs typeface="Arial" panose="020B0604020202020204" pitchFamily="34" charset="0"/>
              </a:rPr>
              <a:t>HuggingFace</a:t>
            </a:r>
            <a:r>
              <a:rPr lang="en-IN" sz="2000" b="1" dirty="0">
                <a:latin typeface="Arial" panose="020B0604020202020204" pitchFamily="34" charset="0"/>
                <a:cs typeface="Arial" panose="020B0604020202020204" pitchFamily="34" charset="0"/>
              </a:rPr>
              <a:t> Transformers / </a:t>
            </a:r>
            <a:r>
              <a:rPr lang="en-IN" sz="2000" b="1" dirty="0" err="1">
                <a:latin typeface="Arial" panose="020B0604020202020204" pitchFamily="34" charset="0"/>
                <a:cs typeface="Arial" panose="020B0604020202020204" pitchFamily="34" charset="0"/>
              </a:rPr>
              <a:t>LangChain</a:t>
            </a:r>
            <a:endParaRPr lang="en-IN" sz="2000" b="1" dirty="0">
              <a:latin typeface="Arial" panose="020B0604020202020204" pitchFamily="34" charset="0"/>
              <a:cs typeface="Arial" panose="020B0604020202020204" pitchFamily="34" charset="0"/>
            </a:endParaRPr>
          </a:p>
          <a:p>
            <a:pPr>
              <a:buFont typeface="Arial" panose="020B0604020202020204" pitchFamily="34" charset="0"/>
              <a:buChar char="•"/>
            </a:pPr>
            <a:r>
              <a:rPr lang="en-IN" sz="2000" b="1" dirty="0">
                <a:latin typeface="Arial" panose="020B0604020202020204" pitchFamily="34" charset="0"/>
                <a:cs typeface="Arial" panose="020B0604020202020204" pitchFamily="34" charset="0"/>
              </a:rPr>
              <a:t>Protocol Simulated: OCPP 1.6 (Central System ↔ EVCS)</a:t>
            </a:r>
          </a:p>
          <a:p>
            <a:pPr marL="0" indent="0">
              <a:buNone/>
            </a:pPr>
            <a:br>
              <a:rPr lang="en-IN" sz="2000" b="1" dirty="0">
                <a:latin typeface="Arial" panose="020B0604020202020204" pitchFamily="34" charset="0"/>
                <a:cs typeface="Arial" panose="020B0604020202020204" pitchFamily="34" charset="0"/>
              </a:rPr>
            </a:br>
            <a:endParaRPr lang="en-IN" sz="2000" b="1" dirty="0">
              <a:latin typeface="Arial" panose="020B0604020202020204" pitchFamily="34" charset="0"/>
              <a:cs typeface="Arial" panose="020B0604020202020204" pitchFamily="34" charset="0"/>
            </a:endParaRPr>
          </a:p>
          <a:p>
            <a:pPr marL="0" indent="0">
              <a:buNone/>
            </a:pPr>
            <a:endParaRPr lang="en-US" sz="20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545087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Result</a:t>
            </a:r>
            <a:endParaRPr lang="en-US"/>
          </a:p>
        </p:txBody>
      </p:sp>
      <p:sp>
        <p:nvSpPr>
          <p:cNvPr id="2" name="Content Placeholder 2">
            <a:extLst>
              <a:ext uri="{FF2B5EF4-FFF2-40B4-BE49-F238E27FC236}">
                <a16:creationId xmlns:a16="http://schemas.microsoft.com/office/drawing/2014/main" id="{C5630BC9-7474-E1E7-BA87-1E1753F9E389}"/>
              </a:ext>
            </a:extLst>
          </p:cNvPr>
          <p:cNvSpPr txBox="1">
            <a:spLocks/>
          </p:cNvSpPr>
          <p:nvPr/>
        </p:nvSpPr>
        <p:spPr>
          <a:xfrm>
            <a:off x="881062" y="1504638"/>
            <a:ext cx="11019020" cy="5239062"/>
          </a:xfrm>
          <a:prstGeom prst="rect">
            <a:avLst/>
          </a:prstGeom>
        </p:spPr>
        <p:txBody>
          <a:bodyPr vert="horz" lIns="91440" tIns="45720" rIns="91440" bIns="45720" rtlCol="0" anchor="t">
            <a:noAutofit/>
          </a:bodyPr>
          <a:lst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buFont typeface="Wingdings" panose="05000000000000000000" pitchFamily="2" charset="2"/>
              <a:buChar char="v"/>
            </a:pPr>
            <a:r>
              <a:rPr lang="en-IN" sz="2000" b="1" dirty="0">
                <a:latin typeface="Arial" panose="020B0604020202020204" pitchFamily="34" charset="0"/>
                <a:cs typeface="Arial" panose="020B0604020202020204" pitchFamily="34" charset="0"/>
              </a:rPr>
              <a:t>Improved attack detection accuracy with temporal deep learning models</a:t>
            </a:r>
          </a:p>
          <a:p>
            <a:pPr>
              <a:buFont typeface="Wingdings" panose="05000000000000000000" pitchFamily="2" charset="2"/>
              <a:buChar char="v"/>
            </a:pPr>
            <a:r>
              <a:rPr lang="en-IN" sz="2000" b="1" dirty="0">
                <a:latin typeface="Arial" panose="020B0604020202020204" pitchFamily="34" charset="0"/>
                <a:cs typeface="Arial" panose="020B0604020202020204" pitchFamily="34" charset="0"/>
              </a:rPr>
              <a:t>Balanced classification performance using WCGAN-augmented data</a:t>
            </a:r>
          </a:p>
          <a:p>
            <a:pPr>
              <a:buFont typeface="Wingdings" panose="05000000000000000000" pitchFamily="2" charset="2"/>
              <a:buChar char="v"/>
            </a:pPr>
            <a:r>
              <a:rPr lang="en-IN" sz="2000" b="1" dirty="0">
                <a:latin typeface="Arial" panose="020B0604020202020204" pitchFamily="34" charset="0"/>
                <a:cs typeface="Arial" panose="020B0604020202020204" pitchFamily="34" charset="0"/>
              </a:rPr>
              <a:t>High precision and recall for DoS and unauthorized access attacks</a:t>
            </a:r>
          </a:p>
          <a:p>
            <a:pPr>
              <a:buFont typeface="Wingdings" panose="05000000000000000000" pitchFamily="2" charset="2"/>
              <a:buChar char="v"/>
            </a:pPr>
            <a:r>
              <a:rPr lang="en-IN" sz="2000" b="1" dirty="0">
                <a:latin typeface="Arial" panose="020B0604020202020204" pitchFamily="34" charset="0"/>
                <a:cs typeface="Arial" panose="020B0604020202020204" pitchFamily="34" charset="0"/>
              </a:rPr>
              <a:t>Enhanced interpretability through Gen-AI chatbot explanations</a:t>
            </a:r>
          </a:p>
          <a:p>
            <a:pPr marL="0" indent="0">
              <a:buNone/>
            </a:pPr>
            <a:r>
              <a:rPr lang="en-IN" sz="2000" b="1" dirty="0">
                <a:latin typeface="Arial" panose="020B0604020202020204" pitchFamily="34" charset="0"/>
                <a:cs typeface="Arial" panose="020B0604020202020204" pitchFamily="34" charset="0"/>
              </a:rPr>
              <a:t>Evaluation Metrics:</a:t>
            </a:r>
          </a:p>
          <a:p>
            <a:pPr>
              <a:buFont typeface="Wingdings" panose="05000000000000000000" pitchFamily="2" charset="2"/>
              <a:buChar char="v"/>
            </a:pPr>
            <a:r>
              <a:rPr lang="en-IN" sz="2000" b="1" dirty="0">
                <a:latin typeface="Arial" panose="020B0604020202020204" pitchFamily="34" charset="0"/>
                <a:cs typeface="Arial" panose="020B0604020202020204" pitchFamily="34" charset="0"/>
              </a:rPr>
              <a:t>Accuracy</a:t>
            </a:r>
          </a:p>
          <a:p>
            <a:pPr>
              <a:buFont typeface="Wingdings" panose="05000000000000000000" pitchFamily="2" charset="2"/>
              <a:buChar char="v"/>
            </a:pPr>
            <a:r>
              <a:rPr lang="en-IN" sz="2000" b="1" dirty="0">
                <a:latin typeface="Arial" panose="020B0604020202020204" pitchFamily="34" charset="0"/>
                <a:cs typeface="Arial" panose="020B0604020202020204" pitchFamily="34" charset="0"/>
              </a:rPr>
              <a:t>Precision, Recall, F1-score</a:t>
            </a:r>
          </a:p>
          <a:p>
            <a:pPr>
              <a:buFont typeface="Wingdings" panose="05000000000000000000" pitchFamily="2" charset="2"/>
              <a:buChar char="v"/>
            </a:pPr>
            <a:r>
              <a:rPr lang="en-IN" sz="2000" b="1" dirty="0">
                <a:latin typeface="Arial" panose="020B0604020202020204" pitchFamily="34" charset="0"/>
                <a:cs typeface="Arial" panose="020B0604020202020204" pitchFamily="34" charset="0"/>
              </a:rPr>
              <a:t>ROC-AUC</a:t>
            </a:r>
          </a:p>
          <a:p>
            <a:pPr>
              <a:buFont typeface="Wingdings" panose="05000000000000000000" pitchFamily="2" charset="2"/>
              <a:buChar char="v"/>
            </a:pPr>
            <a:r>
              <a:rPr lang="en-IN" sz="2000" b="1" dirty="0">
                <a:latin typeface="Arial" panose="020B0604020202020204" pitchFamily="34" charset="0"/>
                <a:cs typeface="Arial" panose="020B0604020202020204" pitchFamily="34" charset="0"/>
              </a:rPr>
              <a:t>Confusion Matrix</a:t>
            </a:r>
          </a:p>
          <a:p>
            <a:pPr>
              <a:buFont typeface="Wingdings" panose="05000000000000000000" pitchFamily="2" charset="2"/>
              <a:buChar char="v"/>
            </a:pPr>
            <a:r>
              <a:rPr lang="en-IN" sz="2000" b="1" dirty="0">
                <a:latin typeface="Arial" panose="020B0604020202020204" pitchFamily="34" charset="0"/>
                <a:cs typeface="Arial" panose="020B0604020202020204" pitchFamily="34" charset="0"/>
              </a:rPr>
              <a:t>Temporal anomaly detection metrics</a:t>
            </a:r>
          </a:p>
          <a:p>
            <a:pPr marL="0" indent="0">
              <a:buNone/>
            </a:pPr>
            <a:endParaRPr lang="en-US" sz="20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832933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Conclusion</a:t>
            </a:r>
            <a:endParaRPr lang="en-US"/>
          </a:p>
        </p:txBody>
      </p:sp>
      <p:sp>
        <p:nvSpPr>
          <p:cNvPr id="3" name="Content Placeholder 2">
            <a:extLst>
              <a:ext uri="{FF2B5EF4-FFF2-40B4-BE49-F238E27FC236}">
                <a16:creationId xmlns:a16="http://schemas.microsoft.com/office/drawing/2014/main" id="{228E661A-EEBB-C7C3-1D2A-A234DB1EC420}"/>
              </a:ext>
            </a:extLst>
          </p:cNvPr>
          <p:cNvSpPr txBox="1">
            <a:spLocks/>
          </p:cNvSpPr>
          <p:nvPr/>
        </p:nvSpPr>
        <p:spPr>
          <a:xfrm>
            <a:off x="881062" y="1504638"/>
            <a:ext cx="11019020" cy="5239062"/>
          </a:xfrm>
          <a:prstGeom prst="rect">
            <a:avLst/>
          </a:prstGeom>
        </p:spPr>
        <p:txBody>
          <a:bodyPr vert="horz" lIns="91440" tIns="45720" rIns="91440" bIns="45720" rtlCol="0" anchor="t">
            <a:noAutofit/>
          </a:bodyPr>
          <a:lst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None/>
            </a:pPr>
            <a:r>
              <a:rPr lang="en-US" sz="2000" b="1" dirty="0">
                <a:latin typeface="Arial" panose="020B0604020202020204" pitchFamily="34" charset="0"/>
                <a:cs typeface="Arial" panose="020B0604020202020204" pitchFamily="34" charset="0"/>
              </a:rPr>
              <a:t>The proposed GenAI-based IDS effectively enhances the security of Electric Vehicle Charging Stations by combining temporal deep learning, generative data augmentation, and explainable AI. The system demonstrates strong detection performance against multiple cyberattack types while providing human-readable insights for EVCS operators.</a:t>
            </a:r>
          </a:p>
          <a:p>
            <a:pPr marL="0" indent="0">
              <a:buNone/>
            </a:pPr>
            <a:r>
              <a:rPr lang="en-US" sz="2000" b="1" dirty="0">
                <a:latin typeface="Arial" panose="020B0604020202020204" pitchFamily="34" charset="0"/>
                <a:cs typeface="Arial" panose="020B0604020202020204" pitchFamily="34" charset="0"/>
              </a:rPr>
              <a:t>This approach significantly improves trust, robustness, and situational awareness in EV charging infrastructure.</a:t>
            </a:r>
          </a:p>
          <a:p>
            <a:pPr marL="0" indent="0">
              <a:buNone/>
            </a:pPr>
            <a:br>
              <a:rPr lang="en-US" sz="2000" b="1" dirty="0">
                <a:latin typeface="Arial" panose="020B0604020202020204" pitchFamily="34" charset="0"/>
                <a:cs typeface="Arial" panose="020B0604020202020204" pitchFamily="34" charset="0"/>
              </a:rPr>
            </a:br>
            <a:endParaRPr lang="en-US" sz="2000" b="1" dirty="0">
              <a:latin typeface="Arial" panose="020B0604020202020204" pitchFamily="34" charset="0"/>
              <a:cs typeface="Arial" panose="020B0604020202020204" pitchFamily="34" charset="0"/>
            </a:endParaRPr>
          </a:p>
          <a:p>
            <a:pPr marL="0" indent="0">
              <a:buNone/>
            </a:pPr>
            <a:endParaRPr lang="en-US" sz="20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833151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F968F13-9AC4-7120-7ACD-9F752C767D5D}"/>
              </a:ext>
            </a:extLst>
          </p:cNvPr>
          <p:cNvSpPr txBox="1">
            <a:spLocks/>
          </p:cNvSpPr>
          <p:nvPr/>
        </p:nvSpPr>
        <p:spPr>
          <a:xfrm>
            <a:off x="535670" y="844659"/>
            <a:ext cx="11029616" cy="530296"/>
          </a:xfrm>
          <a:prstGeom prst="rect">
            <a:avLst/>
          </a:prstGeom>
        </p:spPr>
        <p:txBody>
          <a:bodyPr vert="horz" lIns="91440" tIns="45720" rIns="91440" bIns="45720" rtlCol="0" anchor="b">
            <a:normAutofit fontScale="75000" lnSpcReduction="200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400" b="1" dirty="0">
                <a:solidFill>
                  <a:schemeClr val="accent1"/>
                </a:solidFill>
                <a:latin typeface="Arial"/>
                <a:cs typeface="Arial"/>
              </a:rPr>
              <a:t>Future scope</a:t>
            </a:r>
          </a:p>
        </p:txBody>
      </p:sp>
      <p:sp>
        <p:nvSpPr>
          <p:cNvPr id="2" name="Content Placeholder 2">
            <a:extLst>
              <a:ext uri="{FF2B5EF4-FFF2-40B4-BE49-F238E27FC236}">
                <a16:creationId xmlns:a16="http://schemas.microsoft.com/office/drawing/2014/main" id="{9555B4C9-BA58-3636-F375-511F838817F0}"/>
              </a:ext>
            </a:extLst>
          </p:cNvPr>
          <p:cNvSpPr txBox="1">
            <a:spLocks/>
          </p:cNvSpPr>
          <p:nvPr/>
        </p:nvSpPr>
        <p:spPr>
          <a:xfrm>
            <a:off x="881062" y="1504638"/>
            <a:ext cx="11019020" cy="5239062"/>
          </a:xfrm>
          <a:prstGeom prst="rect">
            <a:avLst/>
          </a:prstGeom>
        </p:spPr>
        <p:txBody>
          <a:bodyPr vert="horz" lIns="91440" tIns="45720" rIns="91440" bIns="45720" rtlCol="0" anchor="t">
            <a:noAutofit/>
          </a:bodyPr>
          <a:lst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buFont typeface="Wingdings" panose="05000000000000000000" pitchFamily="2" charset="2"/>
              <a:buChar char="q"/>
            </a:pPr>
            <a:r>
              <a:rPr lang="en-US" sz="2000" b="1" dirty="0">
                <a:latin typeface="Arial" panose="020B0604020202020204" pitchFamily="34" charset="0"/>
                <a:cs typeface="Arial" panose="020B0604020202020204" pitchFamily="34" charset="0"/>
              </a:rPr>
              <a:t>Integration with Federated Learning for privacy-preserving IDS</a:t>
            </a:r>
          </a:p>
          <a:p>
            <a:pPr>
              <a:buFont typeface="Wingdings" panose="05000000000000000000" pitchFamily="2" charset="2"/>
              <a:buChar char="q"/>
            </a:pPr>
            <a:r>
              <a:rPr lang="en-US" sz="2000" b="1" dirty="0">
                <a:latin typeface="Arial" panose="020B0604020202020204" pitchFamily="34" charset="0"/>
                <a:cs typeface="Arial" panose="020B0604020202020204" pitchFamily="34" charset="0"/>
              </a:rPr>
              <a:t>Real-time deployment in commercial EV charging networks</a:t>
            </a:r>
          </a:p>
          <a:p>
            <a:pPr>
              <a:buFont typeface="Wingdings" panose="05000000000000000000" pitchFamily="2" charset="2"/>
              <a:buChar char="q"/>
            </a:pPr>
            <a:r>
              <a:rPr lang="en-US" sz="2000" b="1" dirty="0">
                <a:latin typeface="Arial" panose="020B0604020202020204" pitchFamily="34" charset="0"/>
                <a:cs typeface="Arial" panose="020B0604020202020204" pitchFamily="34" charset="0"/>
              </a:rPr>
              <a:t>Extension to OCPP 2.0.1 protocol</a:t>
            </a:r>
          </a:p>
          <a:p>
            <a:pPr>
              <a:buFont typeface="Wingdings" panose="05000000000000000000" pitchFamily="2" charset="2"/>
              <a:buChar char="q"/>
            </a:pPr>
            <a:r>
              <a:rPr lang="en-US" sz="2000" b="1" dirty="0">
                <a:latin typeface="Arial" panose="020B0604020202020204" pitchFamily="34" charset="0"/>
                <a:cs typeface="Arial" panose="020B0604020202020204" pitchFamily="34" charset="0"/>
              </a:rPr>
              <a:t>Integration with SIEM and automated response systems</a:t>
            </a:r>
          </a:p>
          <a:p>
            <a:pPr>
              <a:buFont typeface="Wingdings" panose="05000000000000000000" pitchFamily="2" charset="2"/>
              <a:buChar char="q"/>
            </a:pPr>
            <a:r>
              <a:rPr lang="en-US" sz="2000" b="1" dirty="0">
                <a:latin typeface="Arial" panose="020B0604020202020204" pitchFamily="34" charset="0"/>
                <a:cs typeface="Arial" panose="020B0604020202020204" pitchFamily="34" charset="0"/>
              </a:rPr>
              <a:t>Advanced explainability using SHAP and LIME</a:t>
            </a:r>
          </a:p>
          <a:p>
            <a:pPr marL="0" indent="0">
              <a:buNone/>
            </a:pPr>
            <a:br>
              <a:rPr lang="en-US" sz="2000" b="1" dirty="0">
                <a:latin typeface="Arial" panose="020B0604020202020204" pitchFamily="34" charset="0"/>
                <a:cs typeface="Arial" panose="020B0604020202020204" pitchFamily="34" charset="0"/>
              </a:rPr>
            </a:br>
            <a:endParaRPr lang="en-US" sz="20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148826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References</a:t>
            </a:r>
            <a:endParaRPr lang="en-US"/>
          </a:p>
        </p:txBody>
      </p:sp>
      <p:sp>
        <p:nvSpPr>
          <p:cNvPr id="2" name="Content Placeholder 2">
            <a:extLst>
              <a:ext uri="{FF2B5EF4-FFF2-40B4-BE49-F238E27FC236}">
                <a16:creationId xmlns:a16="http://schemas.microsoft.com/office/drawing/2014/main" id="{67D1FACC-0B8A-3949-B4F7-F08DD55E7964}"/>
              </a:ext>
            </a:extLst>
          </p:cNvPr>
          <p:cNvSpPr txBox="1">
            <a:spLocks/>
          </p:cNvSpPr>
          <p:nvPr/>
        </p:nvSpPr>
        <p:spPr>
          <a:xfrm>
            <a:off x="881062" y="1504638"/>
            <a:ext cx="11019020" cy="5239062"/>
          </a:xfrm>
          <a:prstGeom prst="rect">
            <a:avLst/>
          </a:prstGeom>
        </p:spPr>
        <p:txBody>
          <a:bodyPr vert="horz" lIns="91440" tIns="45720" rIns="91440" bIns="45720" rtlCol="0" anchor="t">
            <a:noAutofit/>
          </a:bodyPr>
          <a:lst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457200" indent="-457200">
              <a:buFont typeface="+mj-lt"/>
              <a:buAutoNum type="arabicPeriod"/>
            </a:pPr>
            <a:r>
              <a:rPr lang="en-IN" sz="2000" b="1" dirty="0" err="1">
                <a:latin typeface="Arial" panose="020B0604020202020204" pitchFamily="34" charset="0"/>
                <a:cs typeface="Arial" panose="020B0604020202020204" pitchFamily="34" charset="0"/>
              </a:rPr>
              <a:t>Buedi</a:t>
            </a:r>
            <a:r>
              <a:rPr lang="en-IN" sz="2000" b="1" dirty="0">
                <a:latin typeface="Arial" panose="020B0604020202020204" pitchFamily="34" charset="0"/>
                <a:cs typeface="Arial" panose="020B0604020202020204" pitchFamily="34" charset="0"/>
              </a:rPr>
              <a:t>, E. D., et al., "Enhancing EV Charging Station Security Using a Multi-Dimensional Dataset: CICEVSE2024", IFIP Conference, 2024</a:t>
            </a:r>
          </a:p>
          <a:p>
            <a:pPr marL="457200" indent="-457200">
              <a:buFont typeface="+mj-lt"/>
              <a:buAutoNum type="arabicPeriod"/>
            </a:pPr>
            <a:r>
              <a:rPr lang="en-IN" sz="2000" b="1" dirty="0">
                <a:latin typeface="Arial" panose="020B0604020202020204" pitchFamily="34" charset="0"/>
                <a:cs typeface="Arial" panose="020B0604020202020204" pitchFamily="34" charset="0"/>
              </a:rPr>
              <a:t>Intrusion Detection for Electric Vehicle Charging Systems, Algorithms, 2023</a:t>
            </a:r>
          </a:p>
          <a:p>
            <a:pPr marL="457200" indent="-457200">
              <a:buFont typeface="+mj-lt"/>
              <a:buAutoNum type="arabicPeriod"/>
            </a:pPr>
            <a:r>
              <a:rPr lang="en-IN" sz="2000" b="1" dirty="0">
                <a:latin typeface="Arial" panose="020B0604020202020204" pitchFamily="34" charset="0"/>
                <a:cs typeface="Arial" panose="020B0604020202020204" pitchFamily="34" charset="0"/>
              </a:rPr>
              <a:t>Cyber </a:t>
            </a:r>
            <a:r>
              <a:rPr lang="en-IN" sz="2000" b="1" dirty="0" err="1">
                <a:latin typeface="Arial" panose="020B0604020202020204" pitchFamily="34" charset="0"/>
                <a:cs typeface="Arial" panose="020B0604020202020204" pitchFamily="34" charset="0"/>
              </a:rPr>
              <a:t>Defense</a:t>
            </a:r>
            <a:r>
              <a:rPr lang="en-IN" sz="2000" b="1" dirty="0">
                <a:latin typeface="Arial" panose="020B0604020202020204" pitchFamily="34" charset="0"/>
                <a:cs typeface="Arial" panose="020B0604020202020204" pitchFamily="34" charset="0"/>
              </a:rPr>
              <a:t> in OCPP for EV Charging Security Risks, Springer, 2025</a:t>
            </a:r>
          </a:p>
          <a:p>
            <a:pPr marL="457200" indent="-457200">
              <a:buFont typeface="+mj-lt"/>
              <a:buAutoNum type="arabicPeriod"/>
            </a:pPr>
            <a:r>
              <a:rPr lang="en-IN" sz="2000" b="1" dirty="0">
                <a:latin typeface="Arial" panose="020B0604020202020204" pitchFamily="34" charset="0"/>
                <a:cs typeface="Arial" panose="020B0604020202020204" pitchFamily="34" charset="0"/>
              </a:rPr>
              <a:t>Federated Detection of OCPP 1.6 Cyberattacks, 2025</a:t>
            </a:r>
          </a:p>
          <a:p>
            <a:pPr marL="457200" indent="-457200">
              <a:buFont typeface="+mj-lt"/>
              <a:buAutoNum type="arabicPeriod"/>
            </a:pPr>
            <a:r>
              <a:rPr lang="en-IN" sz="2000" b="1" dirty="0">
                <a:latin typeface="Arial" panose="020B0604020202020204" pitchFamily="34" charset="0"/>
                <a:cs typeface="Arial" panose="020B0604020202020204" pitchFamily="34" charset="0"/>
              </a:rPr>
              <a:t>EVSE Dataset 2024 – Canadian Institute for Cybersecurity (UNB)</a:t>
            </a:r>
          </a:p>
          <a:p>
            <a:pPr marL="457200" indent="-457200">
              <a:buFont typeface="+mj-lt"/>
              <a:buAutoNum type="arabicPeriod"/>
            </a:pPr>
            <a:r>
              <a:rPr lang="en-IN" sz="2000" b="1" dirty="0" err="1">
                <a:latin typeface="Arial" panose="020B0604020202020204" pitchFamily="34" charset="0"/>
                <a:cs typeface="Arial" panose="020B0604020202020204" pitchFamily="34" charset="0"/>
              </a:rPr>
              <a:t>HuggingFace</a:t>
            </a:r>
            <a:r>
              <a:rPr lang="en-IN" sz="2000" b="1" dirty="0">
                <a:latin typeface="Arial" panose="020B0604020202020204" pitchFamily="34" charset="0"/>
                <a:cs typeface="Arial" panose="020B0604020202020204" pitchFamily="34" charset="0"/>
              </a:rPr>
              <a:t> Transformers</a:t>
            </a:r>
          </a:p>
          <a:p>
            <a:pPr marL="457200" indent="-457200">
              <a:buFont typeface="+mj-lt"/>
              <a:buAutoNum type="arabicPeriod"/>
            </a:pPr>
            <a:r>
              <a:rPr lang="en-IN" sz="2000" b="1" dirty="0" err="1">
                <a:latin typeface="Arial" panose="020B0604020202020204" pitchFamily="34" charset="0"/>
                <a:cs typeface="Arial" panose="020B0604020202020204" pitchFamily="34" charset="0"/>
              </a:rPr>
              <a:t>Streamlit</a:t>
            </a:r>
            <a:r>
              <a:rPr lang="en-IN" sz="2000" b="1" dirty="0">
                <a:latin typeface="Arial" panose="020B0604020202020204" pitchFamily="34" charset="0"/>
                <a:cs typeface="Arial" panose="020B0604020202020204" pitchFamily="34" charset="0"/>
              </a:rPr>
              <a:t> Documentation</a:t>
            </a:r>
          </a:p>
          <a:p>
            <a:pPr marL="457200" indent="-457200">
              <a:buFont typeface="+mj-lt"/>
              <a:buAutoNum type="arabicPeriod"/>
            </a:pPr>
            <a:r>
              <a:rPr lang="en-IN" sz="2000" b="1" dirty="0">
                <a:latin typeface="Arial" panose="020B0604020202020204" pitchFamily="34" charset="0"/>
                <a:cs typeface="Arial" panose="020B0604020202020204" pitchFamily="34" charset="0"/>
              </a:rPr>
              <a:t>Python &amp; Scikit-learn Documentation</a:t>
            </a:r>
          </a:p>
          <a:p>
            <a:pPr marL="457200" indent="-457200">
              <a:buFont typeface="+mj-lt"/>
              <a:buAutoNum type="arabicPeriod"/>
            </a:pPr>
            <a:endParaRPr lang="en-US" sz="20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289502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5C18F4-90FF-869B-D16A-31F40314E23F}"/>
              </a:ext>
            </a:extLst>
          </p:cNvPr>
          <p:cNvSpPr>
            <a:spLocks noGrp="1"/>
          </p:cNvSpPr>
          <p:nvPr>
            <p:ph type="title"/>
          </p:nvPr>
        </p:nvSpPr>
        <p:spPr/>
        <p:txBody>
          <a:bodyPr/>
          <a:lstStyle/>
          <a:p>
            <a:r>
              <a:rPr lang="en-US" dirty="0" err="1"/>
              <a:t>Github</a:t>
            </a:r>
            <a:r>
              <a:rPr lang="en-US" dirty="0"/>
              <a:t> link</a:t>
            </a:r>
            <a:endParaRPr lang="en-IN" dirty="0"/>
          </a:p>
        </p:txBody>
      </p:sp>
      <p:sp>
        <p:nvSpPr>
          <p:cNvPr id="3" name="Content Placeholder 2">
            <a:extLst>
              <a:ext uri="{FF2B5EF4-FFF2-40B4-BE49-F238E27FC236}">
                <a16:creationId xmlns:a16="http://schemas.microsoft.com/office/drawing/2014/main" id="{D728B4D2-2154-F20B-F64F-A6097D21B39F}"/>
              </a:ext>
            </a:extLst>
          </p:cNvPr>
          <p:cNvSpPr>
            <a:spLocks noGrp="1"/>
          </p:cNvSpPr>
          <p:nvPr>
            <p:ph idx="1"/>
          </p:nvPr>
        </p:nvSpPr>
        <p:spPr/>
        <p:txBody>
          <a:bodyPr/>
          <a:lstStyle/>
          <a:p>
            <a:r>
              <a:rPr lang="en-IN" dirty="0" err="1"/>
              <a:t>Github</a:t>
            </a:r>
            <a:r>
              <a:rPr lang="en-IN" dirty="0"/>
              <a:t> Link : https://github.com/SwetaGhosh119/GenAI_EV</a:t>
            </a:r>
          </a:p>
          <a:p>
            <a:r>
              <a:rPr lang="en-IN" dirty="0"/>
              <a:t>Deployment : </a:t>
            </a:r>
            <a:r>
              <a:rPr lang="en-IN" dirty="0" err="1"/>
              <a:t>Streamlit</a:t>
            </a:r>
            <a:endParaRPr lang="en-IN" dirty="0"/>
          </a:p>
        </p:txBody>
      </p:sp>
    </p:spTree>
    <p:extLst>
      <p:ext uri="{BB962C8B-B14F-4D97-AF65-F5344CB8AC3E}">
        <p14:creationId xmlns:p14="http://schemas.microsoft.com/office/powerpoint/2010/main" val="19959093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BE4CA82-64EC-4D4E-A5E5-3EBB66E7B24C}"/>
              </a:ext>
            </a:extLst>
          </p:cNvPr>
          <p:cNvSpPr>
            <a:spLocks noGrp="1"/>
          </p:cNvSpPr>
          <p:nvPr>
            <p:ph type="title"/>
          </p:nvPr>
        </p:nvSpPr>
        <p:spPr>
          <a:xfrm>
            <a:off x="1463041" y="2766218"/>
            <a:ext cx="9298744" cy="1325563"/>
          </a:xfrm>
        </p:spPr>
        <p:txBody>
          <a:bodyPr/>
          <a:lstStyle/>
          <a:p>
            <a:pPr algn="ctr"/>
            <a:r>
              <a:rPr lang="en-US" b="1">
                <a:solidFill>
                  <a:srgbClr val="002060"/>
                </a:solidFill>
                <a:latin typeface="Arial" panose="020B0604020202020204" pitchFamily="34" charset="0"/>
                <a:cs typeface="Arial" panose="020B0604020202020204" pitchFamily="34" charset="0"/>
              </a:rPr>
              <a:t>THANK YOU</a:t>
            </a:r>
          </a:p>
        </p:txBody>
      </p:sp>
    </p:spTree>
    <p:extLst>
      <p:ext uri="{BB962C8B-B14F-4D97-AF65-F5344CB8AC3E}">
        <p14:creationId xmlns:p14="http://schemas.microsoft.com/office/powerpoint/2010/main" val="4066255318"/>
      </p:ext>
    </p:extLst>
  </p:cSld>
  <p:clrMapOvr>
    <a:masterClrMapping/>
  </p:clrMapOvr>
</p:sld>
</file>

<file path=ppt/theme/theme1.xml><?xml version="1.0" encoding="utf-8"?>
<a:theme xmlns:a="http://schemas.openxmlformats.org/drawingml/2006/main" name="DividendVTI">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0F1872188ABCFC48BECA6C87E8AC3285" ma:contentTypeVersion="17" ma:contentTypeDescription="Create a new document." ma:contentTypeScope="" ma:versionID="55a158675e089c6a85ab0f83b89e1a15">
  <xsd:schema xmlns:xsd="http://www.w3.org/2001/XMLSchema" xmlns:xs="http://www.w3.org/2001/XMLSchema" xmlns:p="http://schemas.microsoft.com/office/2006/metadata/properties" xmlns:ns3="9162bd5b-4ed9-4da3-b376-05204580ba3f" xmlns:ns4="c0fa2617-96bd-425d-8578-e93563fe37c5" targetNamespace="http://schemas.microsoft.com/office/2006/metadata/properties" ma:root="true" ma:fieldsID="b35f082308864fa161c4a0a9eca35eff" ns3:_="" ns4:_="">
    <xsd:import namespace="9162bd5b-4ed9-4da3-b376-05204580ba3f"/>
    <xsd:import namespace="c0fa2617-96bd-425d-8578-e93563fe37c5"/>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ServiceDateTaken" minOccurs="0"/>
                <xsd:element ref="ns3:MediaLengthInSeconds" minOccurs="0"/>
                <xsd:element ref="ns3:MediaServiceLocation" minOccurs="0"/>
                <xsd:element ref="ns3:_activity" minOccurs="0"/>
                <xsd:element ref="ns3:MediaServiceObjectDetectorVersions" minOccurs="0"/>
                <xsd:element ref="ns3: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162bd5b-4ed9-4da3-b376-05204580ba3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MediaServiceLocation" ma:index="21" nillable="true" ma:displayName="Location" ma:internalName="MediaServiceLocation" ma:readOnly="true">
      <xsd:simpleType>
        <xsd:restriction base="dms:Text"/>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0fa2617-96bd-425d-8578-e93563fe37c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MediaServiceKeyPoints xmlns="9162bd5b-4ed9-4da3-b376-05204580ba3f" xsi:nil="true"/>
    <_activity xmlns="9162bd5b-4ed9-4da3-b376-05204580ba3f" xsi:nil="true"/>
  </documentManagement>
</p:properties>
</file>

<file path=customXml/itemProps1.xml><?xml version="1.0" encoding="utf-8"?>
<ds:datastoreItem xmlns:ds="http://schemas.openxmlformats.org/officeDocument/2006/customXml" ds:itemID="{927BD4C1-B6B1-4715-ABF9-E660A51A4EA0}">
  <ds:schemaRefs>
    <ds:schemaRef ds:uri="http://schemas.microsoft.com/sharepoint/v3/contenttype/forms"/>
  </ds:schemaRefs>
</ds:datastoreItem>
</file>

<file path=customXml/itemProps2.xml><?xml version="1.0" encoding="utf-8"?>
<ds:datastoreItem xmlns:ds="http://schemas.openxmlformats.org/officeDocument/2006/customXml" ds:itemID="{6E816721-11E4-4989-8472-AB5A7EC20404}">
  <ds:schemaRefs>
    <ds:schemaRef ds:uri="9162bd5b-4ed9-4da3-b376-05204580ba3f"/>
    <ds:schemaRef ds:uri="c0fa2617-96bd-425d-8578-e93563fe37c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8D289AE2-D2AE-49D1-AFAC-3A79F6794255}">
  <ds:schemaRefs>
    <ds:schemaRef ds:uri="9162bd5b-4ed9-4da3-b376-05204580ba3f"/>
    <ds:schemaRef ds:uri="c0fa2617-96bd-425d-8578-e93563fe37c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Future forward</Template>
  <TotalTime>1075</TotalTime>
  <Words>647</Words>
  <Application>Microsoft Office PowerPoint</Application>
  <PresentationFormat>Widescreen</PresentationFormat>
  <Paragraphs>92</Paragraphs>
  <Slides>12</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vt:i4>
      </vt:variant>
    </vt:vector>
  </HeadingPairs>
  <TitlesOfParts>
    <vt:vector size="20" baseType="lpstr">
      <vt:lpstr>Arial</vt:lpstr>
      <vt:lpstr>Calibri</vt:lpstr>
      <vt:lpstr>Calibri Light</vt:lpstr>
      <vt:lpstr>Franklin Gothic Book</vt:lpstr>
      <vt:lpstr>Franklin Gothic Demi</vt:lpstr>
      <vt:lpstr>Wingdings</vt:lpstr>
      <vt:lpstr>Wingdings 2</vt:lpstr>
      <vt:lpstr>DividendVTI</vt:lpstr>
      <vt:lpstr>Project title</vt:lpstr>
      <vt:lpstr>OUTLINE</vt:lpstr>
      <vt:lpstr>Problem Statement</vt:lpstr>
      <vt:lpstr>Proposed Solution</vt:lpstr>
      <vt:lpstr>System  Approach</vt:lpstr>
      <vt:lpstr>Algorithm &amp; Deployment</vt:lpstr>
      <vt:lpstr>Result</vt:lpstr>
      <vt:lpstr>Conclusion</vt:lpstr>
      <vt:lpstr>PowerPoint Presentation</vt:lpstr>
      <vt:lpstr>References</vt:lpstr>
      <vt:lpstr>Github link</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SkillsBuild Partner Update template</dc:title>
  <dc:creator>Vaibhav Ostwal</dc:creator>
  <cp:lastModifiedBy>Sandip Ghosh</cp:lastModifiedBy>
  <cp:revision>39</cp:revision>
  <dcterms:created xsi:type="dcterms:W3CDTF">2021-05-26T16:50:10Z</dcterms:created>
  <dcterms:modified xsi:type="dcterms:W3CDTF">2026-01-28T08:12:39Z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0x0101000F1872188ABCFC48BECA6C87E8AC3285</vt:lpwstr>
  </property>
</Properties>
</file>